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by Contract Type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9B-4AA1-A1A0-8FE4EFF63014}"/>
              </c:ext>
            </c:extLst>
          </c:dPt>
          <c:dPt>
            <c:idx val="1"/>
            <c:invertIfNegative val="0"/>
            <c:bubble3D val="0"/>
            <c:spPr>
              <a:solidFill>
                <a:srgbClr val="F6AE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9B-4AA1-A1A0-8FE4EFF63014}"/>
              </c:ext>
            </c:extLst>
          </c:dPt>
          <c:dPt>
            <c:idx val="2"/>
            <c:invertIfNegative val="0"/>
            <c:bubble3D val="0"/>
            <c:spPr>
              <a:solidFill>
                <a:srgbClr val="2F9C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9B-4AA1-A1A0-8FE4EFF6301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59B-4AA1-A1A0-8FE4EFF630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5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5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by Internet Service</c:v>
                </c:pt>
              </c:strCache>
            </c:strRef>
          </c:tx>
          <c:spPr>
            <a:solidFill>
              <a:srgbClr val="F6AE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41-4AA8-8B80-9CEA6DD4A8FC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141-4AA8-8B80-9CEA6DD4A8FC}"/>
              </c:ext>
            </c:extLst>
          </c:dPt>
          <c:dPt>
            <c:idx val="2"/>
            <c:invertIfNegative val="0"/>
            <c:bubble3D val="0"/>
            <c:spPr>
              <a:solidFill>
                <a:srgbClr val="2F9C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141-4AA8-8B80-9CEA6DD4A8F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DSL</c:v>
                </c:pt>
                <c:pt idx="1">
                  <c:v>Fiber optic</c:v>
                </c:pt>
                <c:pt idx="2">
                  <c:v>No internet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41.9</c:v>
                </c:pt>
                <c:pt idx="2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141-4AA8-8B80-9CEA6DD4A8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5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5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by Payment Method</c:v>
                </c:pt>
              </c:strCache>
            </c:strRef>
          </c:tx>
          <c:spPr>
            <a:solidFill>
              <a:srgbClr val="2F9C9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B7E-409A-9808-95D99AA9D0B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B7E-409A-9808-95D99AA9D0B7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B7E-409A-9808-95D99AA9D0B7}"/>
              </c:ext>
            </c:extLst>
          </c:dPt>
          <c:dPt>
            <c:idx val="3"/>
            <c:invertIfNegative val="0"/>
            <c:bubble3D val="0"/>
            <c:spPr>
              <a:solidFill>
                <a:srgbClr val="F6AE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B7E-409A-9808-95D99AA9D0B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Bank transfer</c:v>
                </c:pt>
                <c:pt idx="1">
                  <c:v>Credit card</c:v>
                </c:pt>
                <c:pt idx="2">
                  <c:v>Electronic check</c:v>
                </c:pt>
                <c:pt idx="3">
                  <c:v>Mailed check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16.7</c:v>
                </c:pt>
                <c:pt idx="1">
                  <c:v>15.2</c:v>
                </c:pt>
                <c:pt idx="2">
                  <c:v>45.3</c:v>
                </c:pt>
                <c:pt idx="3">
                  <c:v>19.100000000000001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B7E-409A-9808-95D99AA9D0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5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5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641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Behaviour &amp; Business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ABC Communications Ltd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Samantha Rukwaro  |  Junior Data Analyst, AnalystLab Africa Consulting  |  Week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Understanding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Communications Ltd is losing customers to churn and needs to understand why, and what to do about it.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Role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Junior Data Analysts at AnalystLab Africa Consulting, we analysed 7,043 customer records to identify churn drivers and recommend retention actions.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23760" y="146304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16002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223760" y="25146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ABC's customers have churned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374904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38862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223760" y="48006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records analysed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02336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(TotalCharges, new customers)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3337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Cross-sectional snapshot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Telco Customer Churn Dataset (Kaggle / IBM Sample)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 by Contract Type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731520" y="1371600"/>
          <a:ext cx="6583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37160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6384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201168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Month-to-month customers churn 15x more than two-year contract holders. Contract length is the single strongest churn driver we found.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 by Internet Service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731520" y="1371600"/>
          <a:ext cx="6583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37160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6384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201168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optic, ABC's premium product, has the highest churn of any internet tier at 41.9% — more than double DSL.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 by Payment Method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731520" y="1371600"/>
          <a:ext cx="6583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37160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6384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201168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check payers churn at 45.3%, nearly 3x the rate of automatic-payment customers — pointing to billing friction.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&amp; Pricing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Tenure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 months</a:t>
            </a:r>
            <a:endParaRPr lang="en-US" sz="2600" dirty="0"/>
          </a:p>
          <a:p>
            <a:pPr marL="0" indent="0">
              <a:buNone/>
            </a:pPr>
            <a:r>
              <a:rPr lang="en-US" sz="12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 customers
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2F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37.6 months</a:t>
            </a:r>
            <a:endParaRPr lang="en-US" sz="2600" dirty="0"/>
          </a:p>
          <a:p>
            <a:pPr marL="0" indent="0">
              <a:buNone/>
            </a:pPr>
            <a:r>
              <a:rPr lang="en-US" sz="12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customers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Monthly Charges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$74.40</a:t>
            </a:r>
            <a:endParaRPr lang="en-US" sz="2600" dirty="0"/>
          </a:p>
          <a:p>
            <a:pPr marL="0" indent="0">
              <a:buNone/>
            </a:pPr>
            <a:r>
              <a:rPr lang="en-US" sz="12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 customers
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2F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$61.30</a:t>
            </a:r>
            <a:endParaRPr lang="en-US" sz="2600" dirty="0"/>
          </a:p>
          <a:p>
            <a:pPr marL="0" indent="0">
              <a:buNone/>
            </a:pPr>
            <a:r>
              <a:rPr lang="en-US" sz="12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customers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Key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type is the biggest churn driver (42.7% vs 2.8%, month-to-month vs two-year).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04288"/>
            <a:ext cx="411480" cy="4114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04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25856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optic churns 2x+ more than DSL, despite being the premium product.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145536"/>
            <a:ext cx="411480" cy="4114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45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09981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check payers churn at 45.3% — far above automatic payment methods.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986784"/>
            <a:ext cx="411480" cy="4114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86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94106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 are highest-risk: 18-month avg tenure for churners vs 37.6 for retained.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828032"/>
            <a:ext cx="411480" cy="4114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828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7823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 customers pay more on average ($74.40) than retained customers ($61.30).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Opportunities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Risks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reliance on month-to-month contracts leaves revenue exposed to short-notice loss.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optic, the highest-margin product, has the highest churn rate.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payment methods correlate with higher churn, suggesting billing friction.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Opportunities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Incentivise contract upgrades to cut churn sharply (42.7% to 11.3%+).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manual-payment customers to auto-pay to reduce churn.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retention offers at customers in their first 12 months.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discounts/perks for switching from month-to-month to annual contracts.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67712"/>
            <a:ext cx="10698480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6771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267712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fiber optic pricing and service quality complaints.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72384"/>
            <a:ext cx="10698480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7238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072384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campaign moving check-payers to automatic bank/card payment.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77056"/>
            <a:ext cx="10698480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7705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877056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12-month onboarding &amp; retention program for new customers.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681728"/>
            <a:ext cx="10698480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8172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681728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tech support &amp; online security into fiber plans at no extra cost.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698480" cy="685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4864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548640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5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churn early-warning score from tenure, contract, and payment method.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Samantha Rukwaro  |  AnalystLab Africa Consulting  |  Questions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508</Words>
  <Application>Microsoft Office PowerPoint</Application>
  <PresentationFormat>Widescreen</PresentationFormat>
  <Paragraphs>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Samanth Rukwaro</cp:lastModifiedBy>
  <cp:revision>1</cp:revision>
  <dcterms:created xsi:type="dcterms:W3CDTF">2026-08-09T07:53:01Z</dcterms:created>
  <dcterms:modified xsi:type="dcterms:W3CDTF">2026-08-09T08:38:23Z</dcterms:modified>
</cp:coreProperties>
</file>